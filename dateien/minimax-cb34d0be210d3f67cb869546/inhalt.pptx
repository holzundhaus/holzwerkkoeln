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koeln.blogspot.com/2026/10/holzbalkendecke-sanieren-trittschall.html" TargetMode="External"/><Relationship Id="rId3" Type="http://schemas.openxmlformats.org/officeDocument/2006/relationships/hyperlink" Target="https://holzundhaus.github.io/holzwerkkoeln/dateien/minimax-cb34d0be210d3f67cb8695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Holzbalkendecke sanieren: Trittschall, Brandschutz und Wärmedämmung im Zusammenspiel · Erklärende Präsentation</a:t>
            </a:r>
          </a:p>
        </p:txBody>
      </p:sp>
      <p:sp>
        <p:nvSpPr>
          <p:cNvPr id="3" name="Content Placeholder 2"/>
          <p:cNvSpPr>
            <a:spLocks noGrp="1"/>
          </p:cNvSpPr>
          <p:nvPr>
            <p:ph idx="1"/>
          </p:nvPr>
        </p:nvSpPr>
        <p:spPr/>
        <p:txBody>
          <a:bodyPr/>
          <a:lstStyle/>
          <a:p>
            <a:r>
              <a:t>Überblick: Wer eine Holzbalkendecke in Köln sanieren oder ertüchtigen lässt, sollte Trittschall, Brandschutz, Wärmedämmung und die Tragfähigkeit nicht getrennt betrachten. Die wichtigste Entscheidung ist der passende Schichtaufbau für den vorhandenen Bestand und die geplante Nutzung. Dieser Leitfaden zeigt, worauf bei der Planung zu achten ist und welche Prüfungen vor der Ausführung erfolgen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drei Schutzziele zusammengehören</a:t>
            </a:r>
          </a:p>
        </p:txBody>
      </p:sp>
      <p:sp>
        <p:nvSpPr>
          <p:cNvPr id="3" name="Content Placeholder 2"/>
          <p:cNvSpPr>
            <a:spLocks noGrp="1"/>
          </p:cNvSpPr>
          <p:nvPr>
            <p:ph idx="1"/>
          </p:nvPr>
        </p:nvSpPr>
        <p:spPr/>
        <p:txBody>
          <a:bodyPr/>
          <a:lstStyle/>
          <a:p>
            <a:pPr>
              <a:defRPr sz="1800"/>
            </a:pPr>
            <a:r>
              <a:t>Eine Holzbalkendecke soll Schall dämmen, im Brandfall ausreichend Zeit bieten und Wärmeverluste begrenzen. Diese Ziele wirken in denselben Schichten, können sich aber gegenseitig beeinträchtigen. Eine schwere, weiche Trittschalldämmung verbessert den Schallschutz, ersetzt jedoch keine brandschutztechnisch geeignete Bekleidung der Balken. Eine Unterdecke allein führt wiederum nicht automatisch zu einem ausreichenden Trittschall. Deshalb should every layer be checked against all three protection goals.</a:t>
            </a:r>
          </a:p>
          <a:p>
            <a:pPr>
              <a:defRPr sz="1800"/>
            </a:pPr>
          </a:p>
          <a:p>
            <a:pPr>
              <a:defRPr sz="1800"/>
            </a:pPr>
            <a:r>
              <a:t>Ein typischer Aufbau kann von oben nach unten aus tragendem Balken und vorhandener oder ergänzter Einschubdecke, Hohlraumdämmung, Trittschalldä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drei Schutzziele zusammengehören</a:t>
            </a:r>
          </a:p>
        </p:txBody>
      </p:sp>
      <p:sp>
        <p:nvSpPr>
          <p:cNvPr id="3" name="Content Placeholder 2"/>
          <p:cNvSpPr>
            <a:spLocks noGrp="1"/>
          </p:cNvSpPr>
          <p:nvPr>
            <p:ph idx="1"/>
          </p:nvPr>
        </p:nvSpPr>
        <p:spPr/>
        <p:txBody>
          <a:bodyPr/>
          <a:lstStyle/>
          <a:p>
            <a:pPr>
              <a:defRPr sz="1800"/>
            </a:pPr>
            <a:r>
              <a:t>mmung, zweilagigem Trockenestrich sowie einer Unterdecke mit Lattenrost und Gipskarton- oder Gipsfaserplatten bestehen. Die konkrete Kombination hängt jedoch vom Bestand ab. Einen ausführlichen Überblick zu Aufbau und Zusammenspiel der Schichten bietet der Beitrag [Holzbalkendecke sanieren: Trittschall, Brandschutz und Wärmedämmung](https://holzwerkkoeln.blogspot.com/2026/10/holzbalkendecke-sanieren-trittschall.html).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Schallschritt: Resonanz und flankierende Wege</a:t>
            </a:r>
          </a:p>
        </p:txBody>
      </p:sp>
      <p:sp>
        <p:nvSpPr>
          <p:cNvPr id="3" name="Content Placeholder 2"/>
          <p:cNvSpPr>
            <a:spLocks noGrp="1"/>
          </p:cNvSpPr>
          <p:nvPr>
            <p:ph idx="1"/>
          </p:nvPr>
        </p:nvSpPr>
        <p:spPr/>
        <p:txBody>
          <a:bodyPr/>
          <a:lstStyle/>
          <a:p>
            <a:pPr>
              <a:defRPr sz="1800"/>
            </a:pPr>
            <a:r>
              <a:t>Der Hohlraum zwischen Balken und Unterdecke kann wie ein Feder-Masse-System wirken und bestimmte Frequenzen verstärken. Eine lose oder nicht vollflächig eingebrachte Dämmung begünstigt diesen Effekt. Rieselschutz sowie eingesteckte Dämmplatten können die Hohlraumresonanz reduzieren. Wichtig ist außerdem, dass Trittschalldämmung nicht durch Leitungen, Kanäle oder andere Durchdringungen unterbrochen wird.</a:t>
            </a:r>
          </a:p>
          <a:p>
            <a:pPr>
              <a:defRPr sz="1800"/>
            </a:pPr>
          </a:p>
          <a:p>
            <a:pPr>
              <a:defRPr sz="1800"/>
            </a:pPr>
            <a:r>
              <a:t>Schall überträgt sich nicht ausschließlich durch die Decke. Leicht montierte Trennwände, die auf der Rohdecke stehen, können Trittschall in angrenzende Räume weiterleiten. Eine entkoppelte Trennwand oder ein schwimmender Estrich im Nachbarrau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Schallschritt: Resonanz und flankierende Wege</a:t>
            </a:r>
          </a:p>
        </p:txBody>
      </p:sp>
      <p:sp>
        <p:nvSpPr>
          <p:cNvPr id="3" name="Content Placeholder 2"/>
          <p:cNvSpPr>
            <a:spLocks noGrp="1"/>
          </p:cNvSpPr>
          <p:nvPr>
            <p:ph idx="1"/>
          </p:nvPr>
        </p:nvSpPr>
        <p:spPr/>
        <p:txBody>
          <a:bodyPr/>
          <a:lstStyle/>
          <a:p>
            <a:pPr>
              <a:defRPr sz="1800"/>
            </a:pPr>
            <a:r>
              <a:t>m unterbricht diesen Übertragungsweg. Bei der Detailplanung sollten deshalb neben der Decke auch Wände, Anschlüsse und angrenzende Bauteile betrachtet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Wärmedämmung richtig ausführen</a:t>
            </a:r>
          </a:p>
        </p:txBody>
      </p:sp>
      <p:sp>
        <p:nvSpPr>
          <p:cNvPr id="3" name="Content Placeholder 2"/>
          <p:cNvSpPr>
            <a:spLocks noGrp="1"/>
          </p:cNvSpPr>
          <p:nvPr>
            <p:ph idx="1"/>
          </p:nvPr>
        </p:nvSpPr>
        <p:spPr/>
        <p:txBody>
          <a:bodyPr/>
          <a:lstStyle/>
          <a:p>
            <a:pPr>
              <a:defRPr sz="1800"/>
            </a:pPr>
            <a:r>
              <a:t>Für den Brandschutz sind unterhalb einer Holzbalkendecke insbesondere die Bekleidung der Balken, die Hohlraumausbildung und die Anschlüsse an Wände relevant. Eine Unterdecke muss dicht an die angrenzenden Wände anschließen; Spalten und unzureichend ausgebildete Durchdringungen schwächen die konstruktive Lösung. Leitungen und Einbauten sind entsprechend mitzudenken. Die konkreten Anforderungen richten sich nach Gebäudeklasse und Nutzung und müssen im Einzelfall geprüft werden.</a:t>
            </a:r>
          </a:p>
          <a:p>
            <a:pPr>
              <a:defRPr sz="1800"/>
            </a:pPr>
          </a:p>
          <a:p>
            <a:pPr>
              <a:defRPr sz="1800"/>
            </a:pPr>
            <a:r>
              <a:t>Beim Wärmeschutz zählt nicht nur der Dämmwert der Gefache. Balken bilden Wärmebrücken, weil ihre Dämmwirkung gegenüber dem gefüllten Gefach abweicht. Eine durchgehende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Wärmedämmung richtig ausführen</a:t>
            </a:r>
          </a:p>
        </p:txBody>
      </p:sp>
      <p:sp>
        <p:nvSpPr>
          <p:cNvPr id="3" name="Content Placeholder 2"/>
          <p:cNvSpPr>
            <a:spLocks noGrp="1"/>
          </p:cNvSpPr>
          <p:nvPr>
            <p:ph idx="1"/>
          </p:nvPr>
        </p:nvSpPr>
        <p:spPr/>
        <p:txBody>
          <a:bodyPr/>
          <a:lstStyle/>
          <a:p>
            <a:pPr>
              <a:defRPr sz="1800"/>
            </a:pPr>
            <a:r>
              <a:t>Untersparrendämmung oder eine ausreichende Dämmhöhe im Gefach kann die Wärmebrücke entschärfen. Zusätzlich sind Dampfbremse und Luftdichtheit zu beachten. Beschädigungen, Durchdringungen und Anschlüsse an Wänden sind typische Schwachstellen; eine zweite Dichtebene unter dem Trockenestrich kann die Konstruktion ergänzen.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Lastreserve und Bestand zuerst prüfen</a:t>
            </a:r>
          </a:p>
        </p:txBody>
      </p:sp>
      <p:sp>
        <p:nvSpPr>
          <p:cNvPr id="3" name="Content Placeholder 2"/>
          <p:cNvSpPr>
            <a:spLocks noGrp="1"/>
          </p:cNvSpPr>
          <p:nvPr>
            <p:ph idx="1"/>
          </p:nvPr>
        </p:nvSpPr>
        <p:spPr/>
        <p:txBody>
          <a:bodyPr/>
          <a:lstStyle/>
          <a:p>
            <a:pPr>
              <a:defRPr sz="1800"/>
            </a:pPr>
            <a:r>
              <a:t>Eine Sanierung erhöht das Eigengewicht der Decke. Trockenestrich, zusätzliche Dämmung und Unterdecke können laut Quelle zusammen 60 bis 90 Kilogramm pro Quadratmeter zusätzliches Gewicht verursachen. Deshalb gehört vor der Ausführung eine Prüfung der Balkenabmessungen, Stützweiten und Achsabstände sowie eine Bewertung vorhandener Auffüllungen, Einschub und Schüttungen zum Grundkonzept.</a:t>
            </a:r>
          </a:p>
          <a:p>
            <a:pPr>
              <a:defRPr sz="1800"/>
            </a:pPr>
          </a:p>
          <a:p>
            <a:pPr>
              <a:defRPr sz="1800"/>
            </a:pPr>
            <a:r>
              <a:t>Auch verdeckte Schäden sind zu untersuchen. Feuchte Spuren, Insektenbefall und Fäulnis am Holz müssen geprüft und bei Bedarf durch eine Fachuntersuchung bewertet werden. Eine bloße Sichtprüfung reicht dafür nicht aus. Bei einer Aufstockung oder einer geänderte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Lastreserve und Bestand zuerst prüfen</a:t>
            </a:r>
          </a:p>
        </p:txBody>
      </p:sp>
      <p:sp>
        <p:nvSpPr>
          <p:cNvPr id="3" name="Content Placeholder 2"/>
          <p:cNvSpPr>
            <a:spLocks noGrp="1"/>
          </p:cNvSpPr>
          <p:nvPr>
            <p:ph idx="1"/>
          </p:nvPr>
        </p:nvSpPr>
        <p:spPr/>
        <p:txBody>
          <a:bodyPr/>
          <a:lstStyle/>
          <a:p>
            <a:pPr>
              <a:defRPr sz="1800"/>
            </a:pPr>
            <a:r>
              <a:t>n Nutzung ist die Tragfähigkeit neu nachzuweisen. Unzureichende Lastreserve kann sich durch Durchbiegung der Decke zeigen.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sinnvollen Schritten zur Ausführung</a:t>
            </a:r>
          </a:p>
        </p:txBody>
      </p:sp>
      <p:sp>
        <p:nvSpPr>
          <p:cNvPr id="3" name="Content Placeholder 2"/>
          <p:cNvSpPr>
            <a:spLocks noGrp="1"/>
          </p:cNvSpPr>
          <p:nvPr>
            <p:ph idx="1"/>
          </p:nvPr>
        </p:nvSpPr>
        <p:spPr/>
        <p:txBody>
          <a:bodyPr/>
          <a:lstStyle/>
          <a:p>
            <a:pPr>
              <a:defRPr sz="1800"/>
            </a:pPr>
            <a:r>
              <a:t>Die Planung beginnt mit einer Bestandsaufnahme: Schichtenaufbau, Balkenlage, vorhandene Dämmung und erkennbare Schadensbilder werden dokumentiert. Danach werden die Schutzziele festgelegt, also der gewünschte Trittschall, die erforderliche Brandschutzplanung und das Wärmedämmziel. Erst anschließend lässt sich ein Schichtpaket auswählen, das diese Ziele gemeinsam berücksichtigt.</a:t>
            </a:r>
          </a:p>
          <a:p>
            <a:pPr>
              <a:defRPr sz="1800"/>
            </a:pPr>
          </a:p>
          <a:p>
            <a:pPr>
              <a:defRPr sz="1800"/>
            </a:pPr>
            <a:r>
              <a:t>Besonders wichtig sind die Übergänge zwischen Gewerken. Anschlüsse an Wänden, Treppen und Einbauten müssen detailliert geplant werden. Die Lastreserve und die Konstruktion gehören rechnerisch geprüft, bevor Materialien bestellt und Arbeiten begonnen werden. Für eine 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sinnvollen Schritten zur Ausführung</a:t>
            </a:r>
          </a:p>
        </p:txBody>
      </p:sp>
      <p:sp>
        <p:nvSpPr>
          <p:cNvPr id="3" name="Content Placeholder 2"/>
          <p:cNvSpPr>
            <a:spLocks noGrp="1"/>
          </p:cNvSpPr>
          <p:nvPr>
            <p:ph idx="1"/>
          </p:nvPr>
        </p:nvSpPr>
        <p:spPr/>
        <p:txBody>
          <a:bodyPr/>
          <a:lstStyle/>
          <a:p>
            <a:pPr>
              <a:defRPr sz="1800"/>
            </a:pPr>
            <a:r>
              <a:t>onkrete Anfrage zu Holzbalkendeckenbau und -sanierung kann das Vorhaben auf der Website [von Holzwerk Köln beschrieben werden](https://www.holzwerkkoeln.de/).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Holzbalkendecke sanieren: Trittschall, Brandschutz und Wärmedämmung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