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koeln.blogspot.com/2026/10/holzanbau-bestandsgebaude-anschlusse.html" TargetMode="External"/><Relationship Id="rId3" Type="http://schemas.openxmlformats.org/officeDocument/2006/relationships/hyperlink" Target="https://holzundhaus.github.io/holzwerkkoeln/dateien/minimax-caff87893e4da25f5db6d07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Holzanbau an Bestandsgebäude: Anschlüsse dauerhaft planen · Erklärende Präsentation</a:t>
            </a:r>
          </a:p>
        </p:txBody>
      </p:sp>
      <p:sp>
        <p:nvSpPr>
          <p:cNvPr id="3" name="Content Placeholder 2"/>
          <p:cNvSpPr>
            <a:spLocks noGrp="1"/>
          </p:cNvSpPr>
          <p:nvPr>
            <p:ph idx="1"/>
          </p:nvPr>
        </p:nvSpPr>
        <p:spPr/>
        <p:txBody>
          <a:bodyPr/>
          <a:lstStyle/>
          <a:p>
            <a:r>
              <a:t>Überblick: Beim Holzanbau an einem Bestandsgebäude sind die Anschlüsse zwischen Anbau und vorhandenem Bauwerk entscheidend. Holz verändert sich durch Feuchte und Temperatur, während Mauerwerk andere Eigenschaften und Bewegungen aufweist. Wer diese Unterschiede berücksichtigt, kann Feuchtigkeit, Spannungen und spätere Sanierungen vermeiden. Der folgende Leitfaden strukturiert die Planung von der Bauidee über Schwelle, Wand und Dach bis zur Abstimmung mit den beteiligten Gewerken.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Getrennt bauen und gezielt verbinden</a:t>
            </a:r>
          </a:p>
        </p:txBody>
      </p:sp>
      <p:sp>
        <p:nvSpPr>
          <p:cNvPr id="3" name="Content Placeholder 2"/>
          <p:cNvSpPr>
            <a:spLocks noGrp="1"/>
          </p:cNvSpPr>
          <p:nvPr>
            <p:ph idx="1"/>
          </p:nvPr>
        </p:nvSpPr>
        <p:spPr/>
        <p:txBody>
          <a:bodyPr/>
          <a:lstStyle/>
          <a:p>
            <a:pPr>
              <a:defRPr sz="1800"/>
            </a:pPr>
            <a:r>
              <a:t>Die tragende Planungsidee lautet: Den Anbau als eigenständiges Tragwerk mit eigener Gründung konzipieren und nur dort mit dem Bestand verbinden, wo dies statisch und bauphysikalisch sinnvoll ist. Eine geplante Bewegungsfuge zwischen beiden Teilen nimmt unterschiedliche Verformungen auf und bildet keine geschlossene Feuchtigkeitsbrücke. Damit wird vermieden, Holz und Mauerwerk starr in ein gemeinsames Maß zu zwingen. Wichtig ist außerdem, den Verlauf der Fugen und die Zuständigkeiten für ihre Ausbildung nachvollziehbar festzulegen. Für die weitere Einordnung bietet der weiterführende Ratgeber zum Anschluss von Holzanbauten eine hilfreiche Grun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Getrennt bauen und gezielt verbinden</a:t>
            </a:r>
          </a:p>
        </p:txBody>
      </p:sp>
      <p:sp>
        <p:nvSpPr>
          <p:cNvPr id="3" name="Content Placeholder 2"/>
          <p:cNvSpPr>
            <a:spLocks noGrp="1"/>
          </p:cNvSpPr>
          <p:nvPr>
            <p:ph idx="1"/>
          </p:nvPr>
        </p:nvSpPr>
        <p:spPr/>
        <p:txBody>
          <a:bodyPr/>
          <a:lstStyle/>
          <a:p>
            <a:pPr>
              <a:defRPr sz="1800"/>
            </a:pPr>
            <a:r>
              <a:t>dlage.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 Schwellenanschluss vorbereiten</a:t>
            </a:r>
          </a:p>
        </p:txBody>
      </p:sp>
      <p:sp>
        <p:nvSpPr>
          <p:cNvPr id="3" name="Content Placeholder 2"/>
          <p:cNvSpPr>
            <a:spLocks noGrp="1"/>
          </p:cNvSpPr>
          <p:nvPr>
            <p:ph idx="1"/>
          </p:nvPr>
        </p:nvSpPr>
        <p:spPr/>
        <p:txBody>
          <a:bodyPr/>
          <a:lstStyle/>
          <a:p>
            <a:pPr>
              <a:defRPr sz="1800"/>
            </a:pPr>
            <a:r>
              <a:t>Am Boden trifft die Konstruktion auf die Stelle, an der Spritz- und Regenwasser besonders belastend wirken. Schutz entsteht durch drei zusammenhängende Maßnahmen: eine ausreichende Überdeckung zwischen Sockel, Belag und Holzbauteil, eine trockene und kapillarbrechende Aufstandsfläche sowie einen zugänglichen Anschlussbereich. Die Schwelle sollte nicht unmittelbar auf feuchtem Mauerwerk liegen. Eine Folie, Bitumenbahn oder mineralische Trennschicht kann die Trennung unterstützen. Die Fuge muss später erreichbar bleiben, damit sie kontrolliert und gegebenenfalls nachgebessert werden kann. Prüfen Sie bereits in der Planung, ob Wasser aus dem ans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 Schwellenanschluss vorbereiten</a:t>
            </a:r>
          </a:p>
        </p:txBody>
      </p:sp>
      <p:sp>
        <p:nvSpPr>
          <p:cNvPr id="3" name="Content Placeholder 2"/>
          <p:cNvSpPr>
            <a:spLocks noGrp="1"/>
          </p:cNvSpPr>
          <p:nvPr>
            <p:ph idx="1"/>
          </p:nvPr>
        </p:nvSpPr>
        <p:spPr/>
        <p:txBody>
          <a:bodyPr/>
          <a:lstStyle/>
          <a:p>
            <a:pPr>
              <a:defRPr sz="1800"/>
            </a:pPr>
            <a:r>
              <a:t>chließenden Bodenbereich oder der angrenzenden Fläche zuverlässig abgeführt wird.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Wandanschlüsse mit Bewegung und Feuchteschutz</a:t>
            </a:r>
          </a:p>
        </p:txBody>
      </p:sp>
      <p:sp>
        <p:nvSpPr>
          <p:cNvPr id="3" name="Content Placeholder 2"/>
          <p:cNvSpPr>
            <a:spLocks noGrp="1"/>
          </p:cNvSpPr>
          <p:nvPr>
            <p:ph idx="1"/>
          </p:nvPr>
        </p:nvSpPr>
        <p:spPr/>
        <p:txBody>
          <a:bodyPr/>
          <a:lstStyle/>
          <a:p>
            <a:pPr>
              <a:defRPr sz="1800"/>
            </a:pPr>
            <a:r>
              <a:t>An der Wand sollte der Anbau nicht kraftschlüssig gegen die Bestandswand gespannt werden. Stattdessen bleibt zwischen beiden Bauteilen eine definierte Bewegungsfuge. Ihre Breite ist so zu wählen, dass sie die zu erwartenden Veränderungen des Holzes aufnehmen kann. Außen übernimmt ein flexibler Anschluss die Abdeckung; innen sorgt eine druckfeste, aber trennbare Dämmung für die weitere Ausbildung. Vor der Fuge muss das Regenwasser kontrolliert abgeführt werden. Entscheidend ist außerdem, die Fugen nicht dauerhaft hinter Putz oder Verkleidung zu verbergen. So bleiben Sichtprüfung und spätere Wartung möglich. Der zweite Schwerpunkt des Ratgebers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Wandanschlüsse mit Bewegung und Feuchteschutz</a:t>
            </a:r>
          </a:p>
        </p:txBody>
      </p:sp>
      <p:sp>
        <p:nvSpPr>
          <p:cNvPr id="3" name="Content Placeholder 2"/>
          <p:cNvSpPr>
            <a:spLocks noGrp="1"/>
          </p:cNvSpPr>
          <p:nvPr>
            <p:ph idx="1"/>
          </p:nvPr>
        </p:nvSpPr>
        <p:spPr/>
        <p:txBody>
          <a:bodyPr/>
          <a:lstStyle/>
          <a:p>
            <a:pPr>
              <a:defRPr sz="1800"/>
            </a:pPr>
            <a:r>
              <a:t> Anschlüsse dauerhaft planen liegt auf dieser sorgfältigen Abstimmung von Funktion, Fugenbild und Zugänglichkeit.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Dachanschluss und Bestandsentwässerung gemeinsam betrachten</a:t>
            </a:r>
          </a:p>
        </p:txBody>
      </p:sp>
      <p:sp>
        <p:nvSpPr>
          <p:cNvPr id="3" name="Content Placeholder 2"/>
          <p:cNvSpPr>
            <a:spLocks noGrp="1"/>
          </p:cNvSpPr>
          <p:nvPr>
            <p:ph idx="1"/>
          </p:nvPr>
        </p:nvSpPr>
        <p:spPr/>
        <p:txBody>
          <a:bodyPr/>
          <a:lstStyle/>
          <a:p>
            <a:pPr>
              <a:defRPr sz="1800"/>
            </a:pPr>
            <a:r>
              <a:t>Am Dach treffen unterschiedliche Höhen, Gefälle und Wasserläufe aufeinander. Für die eigene Dachfläche des Anbaus ist deshalb eine klare Entwässerung mit dem Bestand zu planen. Dafür kommen je nach Situation eine vorhandene Rinne, eine separate Leitung oder eine geplante Kehle infrage. Rinnen und Fallrohre müssen die zusätzliche Wassermenge aufnehmen können. Im Höhenversprung darf kein Wasser in die Fuge zwischen Bestand und Anbau laufen. Kehle und Verwahrung benötigen eine dauerhafte Ausbildung. Prüfen Sie außerdem, ob neue Flächen das bestehende Gefälle beeinflussen und ob alle Ablaufpunkte erreichbar bleiben. So wird der Dachübergang nicht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Dachanschluss und Bestandsentwässerung gemeinsam betrachten</a:t>
            </a:r>
          </a:p>
        </p:txBody>
      </p:sp>
      <p:sp>
        <p:nvSpPr>
          <p:cNvPr id="3" name="Content Placeholder 2"/>
          <p:cNvSpPr>
            <a:spLocks noGrp="1"/>
          </p:cNvSpPr>
          <p:nvPr>
            <p:ph idx="1"/>
          </p:nvPr>
        </p:nvSpPr>
        <p:spPr/>
        <p:txBody>
          <a:bodyPr/>
          <a:lstStyle/>
          <a:p>
            <a:pPr>
              <a:defRPr sz="1800"/>
            </a:pPr>
            <a:r>
              <a:t> nur als optisch geschlossene Verbindung, sondern als funktionierendes Entwässerungsdetail betrachtet.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Aus Details eine belastbare Anfrage machen</a:t>
            </a:r>
          </a:p>
        </p:txBody>
      </p:sp>
      <p:sp>
        <p:nvSpPr>
          <p:cNvPr id="3" name="Content Placeholder 2"/>
          <p:cNvSpPr>
            <a:spLocks noGrp="1"/>
          </p:cNvSpPr>
          <p:nvPr>
            <p:ph idx="1"/>
          </p:nvPr>
        </p:nvSpPr>
        <p:spPr/>
        <p:txBody>
          <a:bodyPr/>
          <a:lstStyle/>
          <a:p>
            <a:pPr>
              <a:defRPr sz="1800"/>
            </a:pPr>
            <a:r>
              <a:t>Für die weitere Planung hilft eine übersichtliche Darstellung der Schnittstellen. Notieren Sie zu Schwelle, Wand, Dach, Abdichtung, Entwässerung und Fugen jeweils die geplante Funktion, die beteiligten Bauteile, die Verantwortung sowie die Möglichkeiten zur Kontrolle. Ergänzen Sie einen ungefähren Grundriss, die Lage des Anbaus am Bestand sowie vorhandene Pläne und Fotos. Offene Punkte lassen sich damit in der Beratung gezielt besprechen. Das Ergebnis sollte keine bloße Beschreibung einzelner Materialien sein, sondern nachvollziehbar zeigen, wie Bewegungen aufgenommen, Wasser abgeführt und Anschlüsse zugänglich bleiben. So entsteht aus der Ba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Aus Details eine belastbare Anfrage machen</a:t>
            </a:r>
          </a:p>
        </p:txBody>
      </p:sp>
      <p:sp>
        <p:nvSpPr>
          <p:cNvPr id="3" name="Content Placeholder 2"/>
          <p:cNvSpPr>
            <a:spLocks noGrp="1"/>
          </p:cNvSpPr>
          <p:nvPr>
            <p:ph idx="1"/>
          </p:nvPr>
        </p:nvSpPr>
        <p:spPr/>
        <p:txBody>
          <a:bodyPr/>
          <a:lstStyle/>
          <a:p>
            <a:pPr>
              <a:defRPr sz="1800"/>
            </a:pPr>
            <a:r>
              <a:t>uidee eine prüfbare Grundlage für die weiteren Abstimmungen.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Holzanbau an Bestandsgebäude: Anschlüsse dauerhaft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